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9" autoAdjust="0"/>
    <p:restoredTop sz="94879" autoAdjust="0"/>
  </p:normalViewPr>
  <p:slideViewPr>
    <p:cSldViewPr showGuides="1">
      <p:cViewPr varScale="1">
        <p:scale>
          <a:sx n="78" d="100"/>
          <a:sy n="78" d="100"/>
        </p:scale>
        <p:origin x="917" y="67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9/29/2026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9/29/2026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9276C-EDB0-2CD0-98B3-8BCCE93D7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B3FF7D-B925-1B2A-9494-71191D514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61C9F3-85A2-F993-07FA-C86867273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A76E8-FE85-220D-C2DE-EA93120B2C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439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91609-F2E6-BA67-838E-8F2612188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970C5-2D27-3684-1E0F-248B274DD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0DF56-B736-7D3D-3683-D0A4C65E4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BCC68-5FF8-C3D0-40CB-9203CBF101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524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E3CCF-BC11-D83E-99F9-886952109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6D4C7D-ECC9-35A5-56C9-1D58172C3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5CE95D-26E6-1E75-A29F-D4CCCC8A9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08768-B657-DC84-51B3-534371F4FF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0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C14AA-D199-B35C-4B56-9CF5AF763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B329A-073E-D54B-6027-0A8152576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3452C8-B16E-FDAF-D44D-D56125FD4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FB9C3-7CBB-E311-8A97-93A4D224E0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481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7A826-BA80-C031-9AED-93968DD6C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DA9A0B-69EF-9E17-9404-4D587BCF3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C763EE-CF3C-D4BE-70A7-0D3CB3BFF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2C122-8CF0-C25D-F4F5-ED8262FC64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28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0BA4C-E1FD-7B9A-2FC0-90EEB3A7E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040FB-1924-7DD2-C60C-56D2F6136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3E8CB-DB41-2A40-5779-74E192973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5828C-5D81-27FF-4225-27AEC494D7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394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7AA20-A3EA-3007-7452-73C3A8776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EBFF4-19D2-3C1A-9CA6-05872395E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64440-FA4B-97F0-3CB6-B68910D42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9ABF7-0EA5-78D7-8C38-EA07723D4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38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4DDE5-B96A-6B18-DFC1-0EEC02855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F47851-B1A3-2989-5125-DA54AD579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F25AF0-FD82-DADC-5EED-AB060B09B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F56FE-1950-D8B8-C07D-018997204C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566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489B9-9F53-1E84-07C2-D9CAA79D8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0C54F4-721E-F562-5D49-B73EFF616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5E86B-5E8D-1599-D073-DC39C858F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437EC-F98D-BD12-01D1-8752FB5F2E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028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DEB3005-DAAC-DFCB-BA09-750C4390A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388" y="1484784"/>
            <a:ext cx="10287000" cy="2520280"/>
          </a:xfrm>
        </p:spPr>
        <p:txBody>
          <a:bodyPr>
            <a:noAutofit/>
          </a:bodyPr>
          <a:lstStyle/>
          <a:p>
            <a:pPr algn="ctr"/>
            <a:r>
              <a:rPr lang="en-IN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IPL - Team Performance Analyzer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Learning Project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8F1280-2796-2120-A2D9-4ABD80ECCB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2388" y="4293096"/>
            <a:ext cx="10287000" cy="2664296"/>
          </a:xfrm>
        </p:spPr>
        <p:txBody>
          <a:bodyPr>
            <a:no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| Pandas | NumPy | Matplotlib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Presented by: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    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SivaKumar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.R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B70C10-9BB8-4144-5866-E2BA0B144F4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41" y="3499892"/>
            <a:ext cx="3358108" cy="33581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3D7574-3D66-7245-2619-9DA4F5563D2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2684" y="2175454"/>
            <a:ext cx="3760931" cy="21176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556AD2-CB02-4F43-2070-7B1C7C669A3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37" y="1070713"/>
            <a:ext cx="1383890" cy="152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9AE12B-4AB5-BF28-656C-28958DDDD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9E5BA6-7175-E50F-8914-8C1DF9A15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820" y="476672"/>
            <a:ext cx="10287000" cy="837456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224111-8954-AB1E-BF16-F257356F52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9629" y="1690193"/>
            <a:ext cx="10287000" cy="4289276"/>
          </a:xfrm>
        </p:spPr>
        <p:txBody>
          <a:bodyPr>
            <a:normAutofit/>
          </a:bodyPr>
          <a:lstStyle/>
          <a:p>
            <a:pPr marL="388620" lvl="0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IPL generates a large amount of team performance data. </a:t>
            </a:r>
          </a:p>
          <a:p>
            <a:pPr marL="388620" lvl="0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all teams manually can be difficult. </a:t>
            </a:r>
          </a:p>
          <a:p>
            <a:pPr marL="388620" lvl="0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IPL 2026 team statistics using Python. </a:t>
            </a:r>
          </a:p>
          <a:p>
            <a:pPr marL="388620" lvl="0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stored in a CSV file and processed using Python. </a:t>
            </a:r>
          </a:p>
          <a:p>
            <a:pPr marL="388620" lvl="0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both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analysis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88620" lvl="0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select different options through a menu-driven program.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33F801E-E199-5F87-51C7-551F2A728D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308" y="4869338"/>
            <a:ext cx="3531865" cy="198866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5C2BD4F-4A43-D59C-11BB-E2A08341923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933" y="4725144"/>
            <a:ext cx="3798080" cy="213285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2B4BDF2-8A96-AEB1-9A49-D57F144AA2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8613" y="332656"/>
            <a:ext cx="1246719" cy="137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448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2D9F1-3BAD-E55F-1C62-A7900EF54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EACC4A-D563-B6CB-0BE8-37B1C1F5D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282" y="449188"/>
            <a:ext cx="10287000" cy="837456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90AE32-3EC8-CE6E-3B91-F8A15633F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58578" y="1556792"/>
            <a:ext cx="10287000" cy="4968552"/>
          </a:xfrm>
        </p:spPr>
        <p:txBody>
          <a:bodyPr>
            <a:normAutofit/>
          </a:bodyPr>
          <a:lstStyle/>
          <a:p>
            <a:pPr marL="388620" lvl="0" indent="-342900" algn="just"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performance of IPL 2026 teams. </a:t>
            </a:r>
          </a:p>
          <a:p>
            <a:pPr marL="38862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teams with the highest and lowest performance values. </a:t>
            </a:r>
          </a:p>
          <a:p>
            <a:pPr marL="38862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useful team statistics. </a:t>
            </a:r>
          </a:p>
          <a:p>
            <a:pPr marL="38862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Pandas for handling CSV data. </a:t>
            </a:r>
          </a:p>
          <a:p>
            <a:pPr marL="38862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NumPy for numerical calculations. </a:t>
            </a:r>
          </a:p>
          <a:p>
            <a:pPr marL="38862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Matplotlib for graphical visualization. </a:t>
            </a:r>
          </a:p>
          <a:p>
            <a:pPr marL="38862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easy-to-use menu-driven interface.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C8AAFFB-71B5-A792-911D-A2EE68FC8E6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308" y="4869338"/>
            <a:ext cx="3531865" cy="198866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3D02D7-6FB1-8B61-B994-16243F3A7BC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933" y="4725144"/>
            <a:ext cx="3798080" cy="213285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768308E-CFBF-7C1D-7AF2-02F25F316A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8613" y="332656"/>
            <a:ext cx="1246719" cy="137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775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21ED06-7FD7-B937-3059-A91EA911C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F2C4E0-094B-C0C2-4DE3-C4083B033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282" y="449188"/>
            <a:ext cx="10287000" cy="837456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CB20C8-AF79-5545-1931-5A920CBEB8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96044" y="1556792"/>
            <a:ext cx="10287000" cy="1440160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a single CSV file: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ipl_2026_teams.csv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columns: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FE73E358-0FD5-E4B8-67C0-4A6E4461C2B5}"/>
              </a:ext>
            </a:extLst>
          </p:cNvPr>
          <p:cNvSpPr txBox="1">
            <a:spLocks/>
          </p:cNvSpPr>
          <p:nvPr/>
        </p:nvSpPr>
        <p:spPr>
          <a:xfrm>
            <a:off x="1527706" y="2996952"/>
            <a:ext cx="3280706" cy="35283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4572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772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601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Runs 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Run Player 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Wicket Player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Wickets 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Fours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1470" indent="-285750">
              <a:buFont typeface="Wingdings" panose="05000000000000000000" pitchFamily="2" charset="2"/>
              <a:buChar char="Ø"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6D6F83BB-D450-7DBC-388C-84AC59F2CEBA}"/>
              </a:ext>
            </a:extLst>
          </p:cNvPr>
          <p:cNvSpPr txBox="1">
            <a:spLocks/>
          </p:cNvSpPr>
          <p:nvPr/>
        </p:nvSpPr>
        <p:spPr>
          <a:xfrm>
            <a:off x="4369138" y="2996952"/>
            <a:ext cx="3280706" cy="35283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4572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772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601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Sixes 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Team Score 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Wins 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 Percentage 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Team Score 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Team Score 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Centuries</a:t>
            </a:r>
          </a:p>
          <a:p>
            <a:pPr marL="331470" indent="-285750">
              <a:buFont typeface="Wingdings" panose="05000000000000000000" pitchFamily="2" charset="2"/>
              <a:buChar char="Ø"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51812C-3C03-1A51-2E02-A896A4773E3F}"/>
              </a:ext>
            </a:extLst>
          </p:cNvPr>
          <p:cNvSpPr txBox="1"/>
          <p:nvPr/>
        </p:nvSpPr>
        <p:spPr>
          <a:xfrm>
            <a:off x="3834581" y="4790457"/>
            <a:ext cx="184731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endParaRPr lang="en-IN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D0713A2-29BA-A74A-1898-E69295CE3101}"/>
              </a:ext>
            </a:extLst>
          </p:cNvPr>
          <p:cNvSpPr txBox="1">
            <a:spLocks/>
          </p:cNvSpPr>
          <p:nvPr/>
        </p:nvSpPr>
        <p:spPr>
          <a:xfrm>
            <a:off x="7319298" y="2990455"/>
            <a:ext cx="3280706" cy="35283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4572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772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601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Fifties 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Wicket Hauls 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Hat Tricks</a:t>
            </a:r>
          </a:p>
          <a:p>
            <a:pPr marL="331470" indent="-285750">
              <a:buFont typeface="Wingdings" panose="05000000000000000000" pitchFamily="2" charset="2"/>
              <a:buChar char="Ø"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6446E93-8904-4E00-5F7E-DD5F4D50196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308" y="4869338"/>
            <a:ext cx="3531865" cy="198866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D092084-E5E3-D254-728E-F8BDA0D39E9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933" y="4725144"/>
            <a:ext cx="3798080" cy="213285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AF4FFF9-6482-399C-F52A-13A684E118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8613" y="332656"/>
            <a:ext cx="1246719" cy="137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217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FDB797-F61A-914A-9F36-21B09DFBE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4F08CE-B552-81A3-C672-22FDE94EB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282" y="449188"/>
            <a:ext cx="10287000" cy="837456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87ECBC-F026-6B1B-805C-4408E137A015}"/>
              </a:ext>
            </a:extLst>
          </p:cNvPr>
          <p:cNvSpPr txBox="1">
            <a:spLocks/>
          </p:cNvSpPr>
          <p:nvPr/>
        </p:nvSpPr>
        <p:spPr>
          <a:xfrm>
            <a:off x="1372784" y="4005064"/>
            <a:ext cx="3280706" cy="24482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4572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772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601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concepts used: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 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loop 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loop</a:t>
            </a: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3FAC9-BD69-7D00-1A6C-C5AF2774617A}"/>
              </a:ext>
            </a:extLst>
          </p:cNvPr>
          <p:cNvSpPr txBox="1"/>
          <p:nvPr/>
        </p:nvSpPr>
        <p:spPr>
          <a:xfrm>
            <a:off x="3834581" y="4790457"/>
            <a:ext cx="184731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endParaRPr lang="en-I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E5D924D-43B6-388A-51F1-FB7C7F77A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650590"/>
              </p:ext>
            </p:extLst>
          </p:nvPr>
        </p:nvGraphicFramePr>
        <p:xfrm>
          <a:off x="1712944" y="1398904"/>
          <a:ext cx="8125884" cy="237212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062942">
                  <a:extLst>
                    <a:ext uri="{9D8B030D-6E8A-4147-A177-3AD203B41FA5}">
                      <a16:colId xmlns:a16="http://schemas.microsoft.com/office/drawing/2014/main" val="51165770"/>
                    </a:ext>
                  </a:extLst>
                </a:gridCol>
                <a:gridCol w="4062942">
                  <a:extLst>
                    <a:ext uri="{9D8B030D-6E8A-4147-A177-3AD203B41FA5}">
                      <a16:colId xmlns:a16="http://schemas.microsoft.com/office/drawing/2014/main" val="289492366"/>
                    </a:ext>
                  </a:extLst>
                </a:gridCol>
              </a:tblGrid>
              <a:tr h="517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26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programming language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276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Reading and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analyzing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CSV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647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 calculations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756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Matplotlib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Creating graphs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901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Storing team statistics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943152"/>
                  </a:ext>
                </a:extLst>
              </a:tr>
            </a:tbl>
          </a:graphicData>
        </a:graphic>
      </p:graphicFrame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3C755AA-B127-32C0-728E-E760809DF93D}"/>
              </a:ext>
            </a:extLst>
          </p:cNvPr>
          <p:cNvSpPr txBox="1">
            <a:spLocks/>
          </p:cNvSpPr>
          <p:nvPr/>
        </p:nvSpPr>
        <p:spPr>
          <a:xfrm>
            <a:off x="4135533" y="4545236"/>
            <a:ext cx="3280706" cy="19442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4572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772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601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 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</a:t>
            </a: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D71006F-C3E3-A952-1CAF-635F53E97E38}"/>
              </a:ext>
            </a:extLst>
          </p:cNvPr>
          <p:cNvSpPr txBox="1">
            <a:spLocks/>
          </p:cNvSpPr>
          <p:nvPr/>
        </p:nvSpPr>
        <p:spPr>
          <a:xfrm>
            <a:off x="6321456" y="4545236"/>
            <a:ext cx="3280706" cy="19442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4572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772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601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147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Menu-driven programming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A0E33E2-4F8F-C199-5C44-2A6828F1DF7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1375" y="4869338"/>
            <a:ext cx="3531865" cy="198866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286935D-52CE-1840-F7D7-9E5C1C4002C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933" y="4725144"/>
            <a:ext cx="3798080" cy="213285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D1FF440-7AD1-9E53-7F15-EC2728C96CE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8613" y="332656"/>
            <a:ext cx="1246719" cy="137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13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6AD1C3-444B-8D72-EECA-BF998C3D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174275-3CC5-9FC6-FE20-51ACA98B8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282" y="449188"/>
            <a:ext cx="10287000" cy="837456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C5F371C-FD5E-0F35-1915-965C8A24CD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4036" y="1412776"/>
            <a:ext cx="10287000" cy="1440160"/>
          </a:xfrm>
        </p:spPr>
        <p:txBody>
          <a:bodyPr>
            <a:norm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Project Works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886F44-5925-70C7-0EBC-7BB40A3F5506}"/>
              </a:ext>
            </a:extLst>
          </p:cNvPr>
          <p:cNvSpPr/>
          <p:nvPr/>
        </p:nvSpPr>
        <p:spPr>
          <a:xfrm>
            <a:off x="4160340" y="1888597"/>
            <a:ext cx="3240360" cy="43204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IPL 2026 CSV Dataset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1338C93-E6F3-CBF5-6926-D13CA354E470}"/>
              </a:ext>
            </a:extLst>
          </p:cNvPr>
          <p:cNvSpPr/>
          <p:nvPr/>
        </p:nvSpPr>
        <p:spPr>
          <a:xfrm>
            <a:off x="4160340" y="2580442"/>
            <a:ext cx="3240360" cy="43204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using Pandas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0876AF9-EC7A-A1BF-B793-D425521B29BD}"/>
              </a:ext>
            </a:extLst>
          </p:cNvPr>
          <p:cNvSpPr/>
          <p:nvPr/>
        </p:nvSpPr>
        <p:spPr>
          <a:xfrm>
            <a:off x="4160340" y="3272287"/>
            <a:ext cx="3240360" cy="43204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data in "data"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BC4591-A365-636E-A0EC-656480887E1B}"/>
              </a:ext>
            </a:extLst>
          </p:cNvPr>
          <p:cNvSpPr/>
          <p:nvPr/>
        </p:nvSpPr>
        <p:spPr>
          <a:xfrm>
            <a:off x="4160340" y="3946886"/>
            <a:ext cx="3240360" cy="43204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selects an option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0D2740-9F4E-3F80-E549-5B3F2A8B063E}"/>
              </a:ext>
            </a:extLst>
          </p:cNvPr>
          <p:cNvSpPr/>
          <p:nvPr/>
        </p:nvSpPr>
        <p:spPr>
          <a:xfrm>
            <a:off x="4160340" y="4655977"/>
            <a:ext cx="3240360" cy="43204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processes the data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9482B75-AE4B-F45C-058D-225EC7E7F6FA}"/>
              </a:ext>
            </a:extLst>
          </p:cNvPr>
          <p:cNvSpPr/>
          <p:nvPr/>
        </p:nvSpPr>
        <p:spPr>
          <a:xfrm>
            <a:off x="2288132" y="5414579"/>
            <a:ext cx="3024336" cy="43204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8FB107-AAA1-8CFF-1466-9F0CC13A2F25}"/>
              </a:ext>
            </a:extLst>
          </p:cNvPr>
          <p:cNvSpPr/>
          <p:nvPr/>
        </p:nvSpPr>
        <p:spPr>
          <a:xfrm>
            <a:off x="6320580" y="5439909"/>
            <a:ext cx="3024336" cy="43204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Analysis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B62D7BB-8797-EB81-240B-400B35B3DFA2}"/>
              </a:ext>
            </a:extLst>
          </p:cNvPr>
          <p:cNvSpPr/>
          <p:nvPr/>
        </p:nvSpPr>
        <p:spPr>
          <a:xfrm>
            <a:off x="2288132" y="6173180"/>
            <a:ext cx="3024336" cy="43204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95C9260-C824-C675-E883-1918D1FDFC72}"/>
              </a:ext>
            </a:extLst>
          </p:cNvPr>
          <p:cNvSpPr/>
          <p:nvPr/>
        </p:nvSpPr>
        <p:spPr>
          <a:xfrm>
            <a:off x="6323071" y="6171418"/>
            <a:ext cx="3024336" cy="43204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662BA71-8E78-3550-1BC3-FAA43EB023C5}"/>
              </a:ext>
            </a:extLst>
          </p:cNvPr>
          <p:cNvCxnSpPr>
            <a:stCxn id="13" idx="4"/>
            <a:endCxn id="15" idx="0"/>
          </p:cNvCxnSpPr>
          <p:nvPr/>
        </p:nvCxnSpPr>
        <p:spPr>
          <a:xfrm>
            <a:off x="5780520" y="2320645"/>
            <a:ext cx="0" cy="2597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E5FE361-D56C-AF1D-42F0-BCEF0E7A051B}"/>
              </a:ext>
            </a:extLst>
          </p:cNvPr>
          <p:cNvCxnSpPr>
            <a:stCxn id="15" idx="4"/>
            <a:endCxn id="16" idx="0"/>
          </p:cNvCxnSpPr>
          <p:nvPr/>
        </p:nvCxnSpPr>
        <p:spPr>
          <a:xfrm>
            <a:off x="5780520" y="3012490"/>
            <a:ext cx="0" cy="2597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04A23A6-AED4-0479-91CD-83DF1222DAFF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>
            <a:off x="5780520" y="3704335"/>
            <a:ext cx="0" cy="2425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6B67FEF-06C5-3318-AB0E-053F2AC65B50}"/>
              </a:ext>
            </a:extLst>
          </p:cNvPr>
          <p:cNvCxnSpPr>
            <a:stCxn id="17" idx="4"/>
          </p:cNvCxnSpPr>
          <p:nvPr/>
        </p:nvCxnSpPr>
        <p:spPr>
          <a:xfrm>
            <a:off x="5780520" y="4378934"/>
            <a:ext cx="0" cy="2770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FDFF42A-69FE-4850-A386-FFEF051914BB}"/>
              </a:ext>
            </a:extLst>
          </p:cNvPr>
          <p:cNvCxnSpPr>
            <a:cxnSpLocks/>
            <a:stCxn id="18" idx="6"/>
          </p:cNvCxnSpPr>
          <p:nvPr/>
        </p:nvCxnSpPr>
        <p:spPr>
          <a:xfrm>
            <a:off x="7400700" y="4872001"/>
            <a:ext cx="4320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90986C3-B67F-140F-4D77-0410F5B57860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7832748" y="4872001"/>
            <a:ext cx="0" cy="5679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FF0E982-0A35-C86D-B7F2-5AF71DB612DF}"/>
              </a:ext>
            </a:extLst>
          </p:cNvPr>
          <p:cNvCxnSpPr>
            <a:stCxn id="18" idx="2"/>
          </p:cNvCxnSpPr>
          <p:nvPr/>
        </p:nvCxnSpPr>
        <p:spPr>
          <a:xfrm flipH="1">
            <a:off x="3800300" y="4872001"/>
            <a:ext cx="3600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B692B49-FA1A-FFE0-5156-5977CE4E08C0}"/>
              </a:ext>
            </a:extLst>
          </p:cNvPr>
          <p:cNvCxnSpPr>
            <a:endCxn id="19" idx="0"/>
          </p:cNvCxnSpPr>
          <p:nvPr/>
        </p:nvCxnSpPr>
        <p:spPr>
          <a:xfrm>
            <a:off x="3800300" y="4872001"/>
            <a:ext cx="0" cy="5425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897F53D-60B8-83EF-62A8-806A46C2A81A}"/>
              </a:ext>
            </a:extLst>
          </p:cNvPr>
          <p:cNvCxnSpPr>
            <a:stCxn id="19" idx="4"/>
            <a:endCxn id="21" idx="0"/>
          </p:cNvCxnSpPr>
          <p:nvPr/>
        </p:nvCxnSpPr>
        <p:spPr>
          <a:xfrm>
            <a:off x="3800300" y="5846627"/>
            <a:ext cx="0" cy="3265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9414D78-E305-384F-9484-1F21E1D7C6C7}"/>
              </a:ext>
            </a:extLst>
          </p:cNvPr>
          <p:cNvCxnSpPr>
            <a:stCxn id="20" idx="4"/>
            <a:endCxn id="22" idx="0"/>
          </p:cNvCxnSpPr>
          <p:nvPr/>
        </p:nvCxnSpPr>
        <p:spPr>
          <a:xfrm>
            <a:off x="7832748" y="5871957"/>
            <a:ext cx="2491" cy="2994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Picture 57">
            <a:extLst>
              <a:ext uri="{FF2B5EF4-FFF2-40B4-BE49-F238E27FC236}">
                <a16:creationId xmlns:a16="http://schemas.microsoft.com/office/drawing/2014/main" id="{F67F0C54-5C47-488B-5A89-509AE8EE6A3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308" y="4869338"/>
            <a:ext cx="3531865" cy="1988662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166F81FC-EBA4-F3EA-BF67-79DA207531C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933" y="4725144"/>
            <a:ext cx="3798080" cy="2132856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39E956A7-E50F-B9C3-5AFF-AA1E1C97CD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8613" y="332656"/>
            <a:ext cx="1246719" cy="137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650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3BFBC6-5BBC-7EDF-F82D-9F8A6FB0B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746B29-4755-AEE0-D34C-8BE0D1DE2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282" y="449188"/>
            <a:ext cx="10287000" cy="837456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8576663-0664-FA22-83A4-3C10E98CDE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68052" y="1293407"/>
            <a:ext cx="10287000" cy="5256584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the Project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can find:</a:t>
            </a:r>
          </a:p>
          <a:p>
            <a:pPr marL="88011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with Most Runs </a:t>
            </a:r>
          </a:p>
          <a:p>
            <a:pPr marL="88011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with Most Sixes </a:t>
            </a:r>
          </a:p>
          <a:p>
            <a:pPr marL="88011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with Most Fours </a:t>
            </a:r>
          </a:p>
          <a:p>
            <a:pPr marL="88011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with Most Wickets </a:t>
            </a:r>
          </a:p>
          <a:p>
            <a:pPr marL="88011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with Highest Average Score </a:t>
            </a:r>
          </a:p>
          <a:p>
            <a:pPr marL="88011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with Most Victories </a:t>
            </a:r>
          </a:p>
          <a:p>
            <a:pPr marL="88011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with Highest Win Percentage </a:t>
            </a:r>
          </a:p>
          <a:p>
            <a:pPr marL="88011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Team Score </a:t>
            </a:r>
          </a:p>
          <a:p>
            <a:pPr marL="88011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Team Score</a:t>
            </a:r>
          </a:p>
          <a:p>
            <a:pPr marL="88011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Performer of Each Team</a:t>
            </a:r>
          </a:p>
          <a:p>
            <a:pPr marL="88011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Total Runs of All Teams </a:t>
            </a:r>
          </a:p>
          <a:p>
            <a:pPr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also provides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team statistics display.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6B62E8-BF8D-D71D-7764-2F3D3D95632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308" y="4869338"/>
            <a:ext cx="3531865" cy="19886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AE29F2-3027-1BDE-BB49-75C08B23E2E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933" y="4725144"/>
            <a:ext cx="3798080" cy="21328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EDC38F-1EBF-EBCA-F75A-B2A18EAF39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8613" y="332656"/>
            <a:ext cx="1246719" cy="137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555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3CAD8-9EE6-B0FE-13F0-B4FEDDEAE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379C38-26AF-E22D-B069-0E43C38C9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282" y="449188"/>
            <a:ext cx="10287000" cy="837456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Analysis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C4ED75F-06B5-2369-2BA4-8C96608F1C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96044" y="1293407"/>
            <a:ext cx="10287000" cy="5256584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different graphs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08660" lvl="1" indent="-342900">
              <a:buFont typeface="+mj-lt"/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Runs by Team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Bar Chart </a:t>
            </a:r>
          </a:p>
          <a:p>
            <a:pPr marL="708660" lvl="1" indent="-342900">
              <a:buFont typeface="+mj-lt"/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Sixes by Team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Horizontal Bar Chart </a:t>
            </a:r>
          </a:p>
          <a:p>
            <a:pPr marL="708660" lvl="1" indent="-342900">
              <a:buFont typeface="+mj-lt"/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Wickets by Team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Pie Chart </a:t>
            </a:r>
          </a:p>
          <a:p>
            <a:pPr marL="708660" lvl="1" indent="-342900">
              <a:buFont typeface="+mj-lt"/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Wins vs Losses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Stacked Bar Chart </a:t>
            </a:r>
          </a:p>
          <a:p>
            <a:pPr marL="708660" lvl="1" indent="-342900">
              <a:buFont typeface="+mj-lt"/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 Percentage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Line Chart </a:t>
            </a:r>
          </a:p>
          <a:p>
            <a:pPr marL="708660" lvl="1" indent="-342900">
              <a:buFont typeface="+mj-lt"/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vs Lowest Team Score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Grouped Bar Chart</a:t>
            </a:r>
          </a:p>
          <a:p>
            <a:pPr marL="388620" indent="-342900">
              <a:buFont typeface="+mj-lt"/>
              <a:buAutoNum type="arabicParenR"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B60A75-D774-0169-2F0E-69AB8150262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308" y="4869338"/>
            <a:ext cx="3531865" cy="19886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C8F81A-20AB-77C8-018E-A263BAE0BD0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933" y="4725144"/>
            <a:ext cx="3798080" cy="21328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F089AF-46B2-5304-184F-1E7746A892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8613" y="332656"/>
            <a:ext cx="1246719" cy="1372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A28513-C754-3C88-A1DD-7F8730F1D5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5820" y="4509120"/>
            <a:ext cx="4708872" cy="234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927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0819AE-0890-DBBA-1958-49541075F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A53631-9599-C483-8552-2F198280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12" y="342887"/>
            <a:ext cx="10287000" cy="837456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8F6043F-6DB0-02B3-2CAC-D32E7DAFD6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84076" y="800708"/>
            <a:ext cx="9710936" cy="5796644"/>
          </a:xfrm>
        </p:spPr>
        <p:txBody>
          <a:bodyPr>
            <a:noAutofit/>
          </a:bodyPr>
          <a:lstStyle/>
          <a:p>
            <a:pPr marL="38862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862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IPL 2026 team performance using Python. </a:t>
            </a:r>
          </a:p>
          <a:p>
            <a:pPr marL="38862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makes CSV data handling easier. </a:t>
            </a:r>
          </a:p>
          <a:p>
            <a:pPr marL="38862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is used for numerical analysis. </a:t>
            </a:r>
          </a:p>
          <a:p>
            <a:pPr marL="38862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helps visualize team performance. </a:t>
            </a:r>
          </a:p>
          <a:p>
            <a:pPr marL="38862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menu-driven approach allows users to interact with the project easily. </a:t>
            </a:r>
          </a:p>
          <a:p>
            <a:pPr marL="38862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helped apply Python concepts learned during the training.</a:t>
            </a:r>
          </a:p>
          <a:p>
            <a:pPr lvl="0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 marL="38862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</a:t>
            </a:r>
          </a:p>
          <a:p>
            <a:pPr marL="38862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integration</a:t>
            </a:r>
          </a:p>
          <a:p>
            <a:pPr marL="38862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performance prediction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8620" indent="-342900">
              <a:buFont typeface="Wingdings" panose="05000000000000000000" pitchFamily="2" charset="2"/>
              <a:buChar char="Ø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DF534F-6042-FCF9-81D1-52AA924FE89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308" y="4869338"/>
            <a:ext cx="3531865" cy="19886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552769-0C93-DB0C-68C8-7DFBA9629F2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933" y="4725144"/>
            <a:ext cx="3798080" cy="21328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DB7F4D-DCDA-B077-E706-8366FBE5E4A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8613" y="332656"/>
            <a:ext cx="1246719" cy="137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75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F464A-7282-1CAC-321F-90349DD97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A88F296-C3C5-17F5-697D-BF1D2D5AE84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54700" y="-1436340"/>
            <a:ext cx="5223439" cy="94815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A961483-F3FE-2A62-06DE-E6E1982E225F}"/>
              </a:ext>
            </a:extLst>
          </p:cNvPr>
          <p:cNvSpPr txBox="1"/>
          <p:nvPr/>
        </p:nvSpPr>
        <p:spPr>
          <a:xfrm>
            <a:off x="4150196" y="836712"/>
            <a:ext cx="3600400" cy="47705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188424396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7.potx" id="{B4376E67-A46A-4922-AE0D-3354FC109E20}" vid="{F49CC2A7-BC98-4F28-8A83-D1D23E8024B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Business strategy slides</Template>
  <TotalTime>86</TotalTime>
  <Words>502</Words>
  <Application>Microsoft Office PowerPoint</Application>
  <PresentationFormat>Custom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Palatino Linotype</vt:lpstr>
      <vt:lpstr>Times New Roman</vt:lpstr>
      <vt:lpstr>Wingdings</vt:lpstr>
      <vt:lpstr>Custom</vt:lpstr>
      <vt:lpstr>IPL - Team Performance Analyzer  Python Learning Project</vt:lpstr>
      <vt:lpstr>Introduction</vt:lpstr>
      <vt:lpstr>Project Objectives</vt:lpstr>
      <vt:lpstr>Dataset Used</vt:lpstr>
      <vt:lpstr>Technologies Used</vt:lpstr>
      <vt:lpstr>Project Workflow</vt:lpstr>
      <vt:lpstr>Statistical Analysis</vt:lpstr>
      <vt:lpstr>Graphical Analysis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Marvel</dc:creator>
  <cp:lastModifiedBy>Marvel</cp:lastModifiedBy>
  <cp:revision>2</cp:revision>
  <dcterms:created xsi:type="dcterms:W3CDTF">2026-09-29T14:29:10Z</dcterms:created>
  <dcterms:modified xsi:type="dcterms:W3CDTF">2026-09-29T15:55:53Z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